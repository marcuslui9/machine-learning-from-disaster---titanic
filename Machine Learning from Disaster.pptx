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Quantico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Quantico-bold.fntdata"/><Relationship Id="rId14" Type="http://schemas.openxmlformats.org/officeDocument/2006/relationships/slide" Target="slides/slide9.xml"/><Relationship Id="rId36" Type="http://schemas.openxmlformats.org/officeDocument/2006/relationships/font" Target="fonts/Quantico-regular.fntdata"/><Relationship Id="rId17" Type="http://schemas.openxmlformats.org/officeDocument/2006/relationships/slide" Target="slides/slide12.xml"/><Relationship Id="rId39" Type="http://schemas.openxmlformats.org/officeDocument/2006/relationships/font" Target="fonts/Quantico-boldItalic.fntdata"/><Relationship Id="rId16" Type="http://schemas.openxmlformats.org/officeDocument/2006/relationships/slide" Target="slides/slide11.xml"/><Relationship Id="rId38" Type="http://schemas.openxmlformats.org/officeDocument/2006/relationships/font" Target="fonts/Quantic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ef4b5db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6ef4b5db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6ef4b5db3f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6ef4b5db3f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08857f34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708857f34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6ef4b5db3f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6ef4b5db3f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ef4b5db3f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ef4b5db3f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710ac437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710ac437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ef4b5db3f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6ef4b5db3f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ef4b5db3f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6ef4b5db3f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ef4b5db3f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6ef4b5db3f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19% male survival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74% female survival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ef4b5db3f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6ef4b5db3f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6ef4b5db3f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6ef4b5db3f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Solo = 30%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Small = 58%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Medium and Large = 16%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6ef4b5db3f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6ef4b5db3f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6ef4b5db3f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6ef4b5db3f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ef4b5db3f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6ef4b5db3f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ef4b5db3f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6ef4b5db3f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70e2556b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70e2556b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710ac437a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710ac437a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ef4b5db3f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6ef4b5db3f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ef4b5db3f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6ef4b5db3f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6ef4b5db3f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6ef4b5db3f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ef4b5db3f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6ef4b5db3f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710ac437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710ac437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710ac437a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710ac437a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70457a8b06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70457a8b06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ef4b5db3f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6ef4b5db3f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710ac437a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710ac437a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70457a8b06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70457a8b06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0457a8b06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70457a8b06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70457a8b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70457a8b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70457a8b06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70457a8b06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competitions/titanic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07/2025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Marcus Lui</a:t>
            </a:r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6000"/>
              <a:t>Machine Learning from Disaster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 txBox="1"/>
          <p:nvPr>
            <p:ph type="title"/>
          </p:nvPr>
        </p:nvSpPr>
        <p:spPr>
          <a:xfrm>
            <a:off x="941650" y="9476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/>
              <a:t>The Titanic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4000"/>
          </a:p>
        </p:txBody>
      </p:sp>
      <p:sp>
        <p:nvSpPr>
          <p:cNvPr id="438" name="Google Shape;438;p48"/>
          <p:cNvSpPr txBox="1"/>
          <p:nvPr>
            <p:ph idx="13" type="title"/>
          </p:nvPr>
        </p:nvSpPr>
        <p:spPr>
          <a:xfrm>
            <a:off x="760975" y="1798525"/>
            <a:ext cx="42255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Great movie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Marketed as the “Unsinkable Ship”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Sunk during maiden voyage in 1912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1502/2224 passengers did not survive</a:t>
            </a:r>
            <a:endParaRPr sz="2000"/>
          </a:p>
          <a:p>
            <a:pPr indent="-2413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32% Survival rate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39" name="Google Shape;43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312" y="1432663"/>
            <a:ext cx="3611226" cy="22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16" type="title"/>
          </p:nvPr>
        </p:nvSpPr>
        <p:spPr>
          <a:xfrm>
            <a:off x="439550" y="308550"/>
            <a:ext cx="81705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solidFill>
                  <a:schemeClr val="lt1"/>
                </a:solidFill>
              </a:rPr>
              <a:t>Kaggle Competition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Build a predictive model that answers the question: What sorts of people are more likely to survive?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5" name="Google Shape;445;p49"/>
          <p:cNvPicPr preferRelativeResize="0"/>
          <p:nvPr/>
        </p:nvPicPr>
        <p:blipFill rotWithShape="1">
          <a:blip r:embed="rId3">
            <a:alphaModFix amt="80000"/>
          </a:blip>
          <a:srcRect b="23799" l="0" r="0" t="23804"/>
          <a:stretch/>
        </p:blipFill>
        <p:spPr>
          <a:xfrm>
            <a:off x="-1600" y="1674300"/>
            <a:ext cx="9144000" cy="3469200"/>
          </a:xfrm>
          <a:prstGeom prst="snip1Rect">
            <a:avLst>
              <a:gd fmla="val 18979" name="adj"/>
            </a:avLst>
          </a:prstGeom>
          <a:noFill/>
          <a:ln>
            <a:noFill/>
          </a:ln>
        </p:spPr>
      </p:pic>
      <p:sp>
        <p:nvSpPr>
          <p:cNvPr id="446" name="Google Shape;446;p49"/>
          <p:cNvSpPr txBox="1"/>
          <p:nvPr>
            <p:ph idx="4294967295" type="title"/>
          </p:nvPr>
        </p:nvSpPr>
        <p:spPr>
          <a:xfrm>
            <a:off x="1111820" y="1952475"/>
            <a:ext cx="16998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 sz="2000"/>
              <a:t>Process the data</a:t>
            </a:r>
            <a:endParaRPr sz="2000"/>
          </a:p>
        </p:txBody>
      </p:sp>
      <p:sp>
        <p:nvSpPr>
          <p:cNvPr id="447" name="Google Shape;447;p49"/>
          <p:cNvSpPr/>
          <p:nvPr/>
        </p:nvSpPr>
        <p:spPr>
          <a:xfrm>
            <a:off x="3173001" y="2747140"/>
            <a:ext cx="579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8" name="Google Shape;448;p49"/>
          <p:cNvSpPr/>
          <p:nvPr/>
        </p:nvSpPr>
        <p:spPr>
          <a:xfrm>
            <a:off x="3173018" y="3185875"/>
            <a:ext cx="579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" name="Google Shape;449;p49"/>
          <p:cNvSpPr txBox="1"/>
          <p:nvPr>
            <p:ph idx="4294967295" type="title"/>
          </p:nvPr>
        </p:nvSpPr>
        <p:spPr>
          <a:xfrm>
            <a:off x="786201" y="2625925"/>
            <a:ext cx="19533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titanic_train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titanic_test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p49"/>
          <p:cNvSpPr txBox="1"/>
          <p:nvPr>
            <p:ph idx="4294967295" type="title"/>
          </p:nvPr>
        </p:nvSpPr>
        <p:spPr>
          <a:xfrm>
            <a:off x="3339695" y="2625925"/>
            <a:ext cx="20100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Data cleaning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0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Model creation and tuning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604473" y="2747150"/>
            <a:ext cx="57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49"/>
          <p:cNvSpPr/>
          <p:nvPr/>
        </p:nvSpPr>
        <p:spPr>
          <a:xfrm>
            <a:off x="604473" y="3214225"/>
            <a:ext cx="57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49"/>
          <p:cNvSpPr/>
          <p:nvPr/>
        </p:nvSpPr>
        <p:spPr>
          <a:xfrm>
            <a:off x="6001717" y="2747138"/>
            <a:ext cx="45000" cy="552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" name="Google Shape;454;p49"/>
          <p:cNvSpPr txBox="1"/>
          <p:nvPr/>
        </p:nvSpPr>
        <p:spPr>
          <a:xfrm>
            <a:off x="6156875" y="2625925"/>
            <a:ext cx="2308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Generate survivability for titanic_test and  submit predictions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5" name="Google Shape;455;p49" title="download_img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00" y="1943250"/>
            <a:ext cx="616756" cy="5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9" title="code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3010" y="1919600"/>
            <a:ext cx="758276" cy="7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9" title="mag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6123" y="1994500"/>
            <a:ext cx="478911" cy="4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9"/>
          <p:cNvSpPr txBox="1"/>
          <p:nvPr>
            <p:ph idx="4294967295" type="title"/>
          </p:nvPr>
        </p:nvSpPr>
        <p:spPr>
          <a:xfrm>
            <a:off x="3931287" y="1952475"/>
            <a:ext cx="1417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 sz="2000"/>
              <a:t>Clean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 sz="2000"/>
              <a:t>and build</a:t>
            </a:r>
            <a:endParaRPr sz="2000"/>
          </a:p>
        </p:txBody>
      </p:sp>
      <p:sp>
        <p:nvSpPr>
          <p:cNvPr id="459" name="Google Shape;459;p49"/>
          <p:cNvSpPr txBox="1"/>
          <p:nvPr>
            <p:ph idx="4294967295" type="title"/>
          </p:nvPr>
        </p:nvSpPr>
        <p:spPr>
          <a:xfrm>
            <a:off x="6411558" y="1952475"/>
            <a:ext cx="18504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 sz="2000"/>
              <a:t>Predict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 sz="2000"/>
              <a:t>and Submit 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0"/>
          <p:cNvSpPr txBox="1"/>
          <p:nvPr>
            <p:ph type="title"/>
          </p:nvPr>
        </p:nvSpPr>
        <p:spPr>
          <a:xfrm>
            <a:off x="910650" y="8531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4000"/>
              <a:t>Could I survive the Titanic?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</p:txBody>
      </p:sp>
      <p:pic>
        <p:nvPicPr>
          <p:cNvPr id="465" name="Google Shape;465;p50" title="sink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0963" y="1607925"/>
            <a:ext cx="3370484" cy="25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/>
              <a:t>The Data</a:t>
            </a:r>
            <a:endParaRPr sz="4000"/>
          </a:p>
        </p:txBody>
      </p:sp>
      <p:sp>
        <p:nvSpPr>
          <p:cNvPr id="471" name="Google Shape;471;p51"/>
          <p:cNvSpPr txBox="1"/>
          <p:nvPr>
            <p:ph idx="13" type="title"/>
          </p:nvPr>
        </p:nvSpPr>
        <p:spPr>
          <a:xfrm>
            <a:off x="966700" y="1417525"/>
            <a:ext cx="7244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2 datasets from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www.kaggle.com/competitions/titanic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Used python and jupyter notebooks to perform analysis and create ML models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891 (40%) training entries and 418 (19%) test entries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2"/>
          <p:cNvSpPr txBox="1"/>
          <p:nvPr>
            <p:ph idx="13" type="title"/>
          </p:nvPr>
        </p:nvSpPr>
        <p:spPr>
          <a:xfrm>
            <a:off x="966700" y="1417525"/>
            <a:ext cx="7244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Features: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Passenger ID, Passenger class, Name, Sex, Age, Number of Siblings and Spouses, Number of Parent and Children, Ticket Number, Ticket Fare, Cabin Number, Embark location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Both datasets needed cleaning and processing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1279 null values in total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Age, Embarked, Cabin</a:t>
            </a:r>
            <a:endParaRPr sz="2000"/>
          </a:p>
        </p:txBody>
      </p:sp>
      <p:sp>
        <p:nvSpPr>
          <p:cNvPr id="477" name="Google Shape;477;p52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/>
              <a:t>More </a:t>
            </a:r>
            <a:r>
              <a:rPr lang="en" sz="4000"/>
              <a:t>Data</a:t>
            </a: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482" name="Google Shape;482;p53"/>
          <p:cNvSpPr/>
          <p:nvPr/>
        </p:nvSpPr>
        <p:spPr>
          <a:xfrm flipH="1">
            <a:off x="3780550" y="3855151"/>
            <a:ext cx="5363400" cy="1288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83" name="Google Shape;483;p53"/>
          <p:cNvSpPr/>
          <p:nvPr/>
        </p:nvSpPr>
        <p:spPr>
          <a:xfrm flipH="1">
            <a:off x="3780550" y="2566854"/>
            <a:ext cx="5363400" cy="12882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84" name="Google Shape;484;p53"/>
          <p:cNvSpPr/>
          <p:nvPr/>
        </p:nvSpPr>
        <p:spPr>
          <a:xfrm flipH="1">
            <a:off x="3780550" y="1278707"/>
            <a:ext cx="5363400" cy="12882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85" name="Google Shape;485;p53"/>
          <p:cNvSpPr/>
          <p:nvPr/>
        </p:nvSpPr>
        <p:spPr>
          <a:xfrm flipH="1">
            <a:off x="3780549" y="0"/>
            <a:ext cx="5363400" cy="12882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paces to add section titles" id="486" name="Google Shape;486;p53"/>
          <p:cNvSpPr txBox="1"/>
          <p:nvPr>
            <p:ph idx="1" type="subTitle"/>
          </p:nvPr>
        </p:nvSpPr>
        <p:spPr>
          <a:xfrm>
            <a:off x="411875" y="590550"/>
            <a:ext cx="3317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/>
              <a:t>Hypotheses:</a:t>
            </a:r>
            <a:endParaRPr sz="4000"/>
          </a:p>
        </p:txBody>
      </p:sp>
      <p:sp>
        <p:nvSpPr>
          <p:cNvPr descr="Spaces to add section titles" id="487" name="Google Shape;487;p53"/>
          <p:cNvSpPr txBox="1"/>
          <p:nvPr>
            <p:ph idx="2" type="subTitle"/>
          </p:nvPr>
        </p:nvSpPr>
        <p:spPr>
          <a:xfrm>
            <a:off x="4071084" y="250032"/>
            <a:ext cx="5060100" cy="675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Women are more likely to survive than men </a:t>
            </a:r>
            <a:endParaRPr sz="2000"/>
          </a:p>
        </p:txBody>
      </p:sp>
      <p:sp>
        <p:nvSpPr>
          <p:cNvPr descr="Spaces to add section titles" id="488" name="Google Shape;488;p53"/>
          <p:cNvSpPr txBox="1"/>
          <p:nvPr>
            <p:ph idx="3" type="subTitle"/>
          </p:nvPr>
        </p:nvSpPr>
        <p:spPr>
          <a:xfrm>
            <a:off x="4071084" y="1589666"/>
            <a:ext cx="5060100" cy="675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2000"/>
              <a:t>Solo travelers are more likely to survive</a:t>
            </a:r>
            <a:endParaRPr sz="2000"/>
          </a:p>
        </p:txBody>
      </p:sp>
      <p:sp>
        <p:nvSpPr>
          <p:cNvPr descr="Spaces to add section titles" id="489" name="Google Shape;489;p53"/>
          <p:cNvSpPr txBox="1"/>
          <p:nvPr>
            <p:ph idx="4" type="subTitle"/>
          </p:nvPr>
        </p:nvSpPr>
        <p:spPr>
          <a:xfrm>
            <a:off x="4071084" y="3025566"/>
            <a:ext cx="5060100" cy="675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2000"/>
              <a:t>1st class passengers are significantly more likely to survive compared to 2nd and 3rd class passengers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2000"/>
          </a:p>
        </p:txBody>
      </p:sp>
      <p:sp>
        <p:nvSpPr>
          <p:cNvPr descr="Spaces to add section titles" id="490" name="Google Shape;490;p53"/>
          <p:cNvSpPr txBox="1"/>
          <p:nvPr>
            <p:ph idx="5" type="subTitle"/>
          </p:nvPr>
        </p:nvSpPr>
        <p:spPr>
          <a:xfrm>
            <a:off x="4071084" y="4160158"/>
            <a:ext cx="5060100" cy="675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Survivability increases as ticket cost increases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4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6" name="Google Shape;496;p54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7" name="Google Shape;497;p54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Hypothesis #1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Women are more likely to survive than men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5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3" name="Google Shape;503;p55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4" name="Google Shape;504;p55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r>
              <a:rPr lang="en" sz="4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 #1</a:t>
            </a:r>
            <a:endParaRPr sz="4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Women are 55% more likely to survive than men </a:t>
            </a:r>
            <a:endParaRPr sz="2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19% Male survival rate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74% Female survival rate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600"/>
          </a:p>
        </p:txBody>
      </p:sp>
      <p:pic>
        <p:nvPicPr>
          <p:cNvPr id="505" name="Google Shape;505;p55" title="Survivability_by_S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525" y="1030600"/>
            <a:ext cx="4094325" cy="3070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Hypothesis #2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Solo travelers are more likely to survive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 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11" name="Google Shape;511;p56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2" name="Google Shape;512;p56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8" name="Google Shape;518;p57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9" name="Google Shape;519;p57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4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Conclusion </a:t>
            </a:r>
            <a:r>
              <a:rPr lang="en" sz="4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#2</a:t>
            </a:r>
            <a:endParaRPr sz="4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Passengers traveling in small groups are more likely to survive</a:t>
            </a:r>
            <a:endParaRPr sz="2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Travel Size Survival Odds: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Solo (1): 30%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Small (2-4): 58%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Medium (5-6): 16%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Large (7-11): 16%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1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0" name="Google Shape;520;p57" title="Survivability_by_Famsi_Group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200" y="1038350"/>
            <a:ext cx="4114600" cy="30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8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6" name="Google Shape;526;p58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7" name="Google Shape;527;p58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Hypothesis #3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1st class passengers are significantly more likely to survive compared to 2nd and 3rd class passengers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 </a:t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9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Conclusion </a:t>
            </a:r>
            <a:r>
              <a:rPr lang="en" sz="4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#3</a:t>
            </a:r>
            <a:endParaRPr sz="4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1st class passengers are 33%  and 159% more likely to survive compared to 2nd and 3rd class passengers</a:t>
            </a:r>
            <a:endParaRPr sz="2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1st: 62.96% survival rate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2nd: 47.28% survival rate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3rd: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 24.23% survival rate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000"/>
          </a:p>
        </p:txBody>
      </p:sp>
      <p:sp>
        <p:nvSpPr>
          <p:cNvPr id="533" name="Google Shape;533;p59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4" name="Google Shape;534;p59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535" name="Google Shape;535;p59" title="Survivability_by_Cla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400" y="1102950"/>
            <a:ext cx="3916800" cy="29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1" name="Google Shape;541;p60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2" name="Google Shape;542;p60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Hypothesis #4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Survivability increases as ticket price increases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1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8" name="Google Shape;548;p61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9" name="Google Shape;549;p61"/>
          <p:cNvSpPr txBox="1"/>
          <p:nvPr>
            <p:ph type="title"/>
          </p:nvPr>
        </p:nvSpPr>
        <p:spPr>
          <a:xfrm>
            <a:off x="750850" y="795275"/>
            <a:ext cx="3302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Conclusion </a:t>
            </a:r>
            <a:r>
              <a:rPr lang="en" sz="4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#4</a:t>
            </a:r>
            <a:endParaRPr sz="4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As t</a:t>
            </a:r>
            <a:r>
              <a:rPr lang="en" sz="20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icket cost increases, so does survivability </a:t>
            </a:r>
            <a:endParaRPr sz="2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Increased survival &gt; £50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id="550" name="Google Shape;550;p61" title="Survivability_by_Fare_Group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075" y="1040550"/>
            <a:ext cx="4268574" cy="32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6" name="Google Shape;556;p62"/>
          <p:cNvSpPr txBox="1"/>
          <p:nvPr>
            <p:ph type="title"/>
          </p:nvPr>
        </p:nvSpPr>
        <p:spPr>
          <a:xfrm>
            <a:off x="750850" y="642875"/>
            <a:ext cx="38211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Additional Findings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241300" lvl="0" marL="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Cherbourg survival: 56%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241300" lvl="0" marL="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Southampton survival: 34%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241300" lvl="0" marL="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Queenstown: 39%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62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558" name="Google Shape;558;p6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000" y="1023488"/>
            <a:ext cx="3916800" cy="30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3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4" name="Google Shape;564;p63"/>
          <p:cNvSpPr txBox="1"/>
          <p:nvPr>
            <p:ph type="title"/>
          </p:nvPr>
        </p:nvSpPr>
        <p:spPr>
          <a:xfrm>
            <a:off x="750850" y="642875"/>
            <a:ext cx="34707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Additional Findings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241300" lvl="0" marL="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Adults over 80 were </a:t>
            </a:r>
            <a:r>
              <a:rPr lang="en" sz="2000" u="sng">
                <a:latin typeface="Lato"/>
                <a:ea typeface="Lato"/>
                <a:cs typeface="Lato"/>
                <a:sym typeface="Lato"/>
              </a:rPr>
              <a:t>most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likely to survive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241300" lvl="1" marL="22860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Children under 10: 61.29%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" name="Google Shape;565;p63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566" name="Google Shape;566;p63" title="Survivability_by_Age_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325" y="1050325"/>
            <a:ext cx="4057125" cy="304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4"/>
          <p:cNvSpPr/>
          <p:nvPr/>
        </p:nvSpPr>
        <p:spPr>
          <a:xfrm>
            <a:off x="0" y="1524000"/>
            <a:ext cx="9144000" cy="3619500"/>
          </a:xfrm>
          <a:prstGeom prst="snip1Rect">
            <a:avLst>
              <a:gd fmla="val 75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64"/>
          <p:cNvSpPr txBox="1"/>
          <p:nvPr>
            <p:ph idx="4" type="title"/>
          </p:nvPr>
        </p:nvSpPr>
        <p:spPr>
          <a:xfrm>
            <a:off x="439550" y="765750"/>
            <a:ext cx="80088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What we’ve gathered so far…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" name="Google Shape;573;p64"/>
          <p:cNvSpPr txBox="1"/>
          <p:nvPr>
            <p:ph idx="8" type="body"/>
          </p:nvPr>
        </p:nvSpPr>
        <p:spPr>
          <a:xfrm>
            <a:off x="775925" y="1763400"/>
            <a:ext cx="7672500" cy="299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2000"/>
              <a:t>Survivors are more likely…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Female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Traveling in a group of 2-4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Higher class, and paid a higher priced ticket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Embarked from Southampton (64% of survivors)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Children under 10 had the highest chance of survival of any age group 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5"/>
          <p:cNvSpPr txBox="1"/>
          <p:nvPr>
            <p:ph type="title"/>
          </p:nvPr>
        </p:nvSpPr>
        <p:spPr>
          <a:xfrm>
            <a:off x="910650" y="9293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6 Classification Models for predicting Titanic survivability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Logistic Regression (LR)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Random Forest (RF)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Decision Tree (DT)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K Nearest Neighbors (KNN)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Support Vector Classification (SVC)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-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Gaussian Naive Bayes (GNB)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6"/>
          <p:cNvSpPr txBox="1"/>
          <p:nvPr>
            <p:ph idx="13" type="title"/>
          </p:nvPr>
        </p:nvSpPr>
        <p:spPr>
          <a:xfrm>
            <a:off x="8143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41300" lvl="0" marL="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DT &amp; RF </a:t>
            </a:r>
            <a:r>
              <a:rPr lang="en" sz="2000"/>
              <a:t>98.45% training accuracy</a:t>
            </a:r>
            <a:endParaRPr sz="2000"/>
          </a:p>
          <a:p>
            <a:pPr indent="-241300" lvl="0" marL="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LR </a:t>
            </a:r>
            <a:r>
              <a:rPr lang="en" sz="2000"/>
              <a:t>81% </a:t>
            </a:r>
            <a:r>
              <a:rPr lang="en" sz="2000"/>
              <a:t>highest test accuracy </a:t>
            </a:r>
            <a:endParaRPr sz="2000"/>
          </a:p>
          <a:p>
            <a:pPr indent="-241300" lvl="0" marL="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SVC  68.1% train and 65.9% test </a:t>
            </a:r>
            <a:endParaRPr sz="2000"/>
          </a:p>
        </p:txBody>
      </p:sp>
      <p:sp>
        <p:nvSpPr>
          <p:cNvPr id="584" name="Google Shape;584;p66"/>
          <p:cNvSpPr txBox="1"/>
          <p:nvPr>
            <p:ph type="title"/>
          </p:nvPr>
        </p:nvSpPr>
        <p:spPr>
          <a:xfrm>
            <a:off x="629175" y="642875"/>
            <a:ext cx="71235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Training vs Test Accuracy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5" name="Google Shape;585;p6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625" y="1524000"/>
            <a:ext cx="5315200" cy="3170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7"/>
          <p:cNvSpPr txBox="1"/>
          <p:nvPr>
            <p:ph type="title"/>
          </p:nvPr>
        </p:nvSpPr>
        <p:spPr>
          <a:xfrm>
            <a:off x="629175" y="642875"/>
            <a:ext cx="71235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Model Performance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67"/>
          <p:cNvSpPr txBox="1"/>
          <p:nvPr>
            <p:ph idx="13" type="title"/>
          </p:nvPr>
        </p:nvSpPr>
        <p:spPr>
          <a:xfrm>
            <a:off x="629175" y="1417525"/>
            <a:ext cx="22578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High R^2 score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Low MSE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High Precision Score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High Recall Score</a:t>
            </a:r>
            <a:endParaRPr sz="2000"/>
          </a:p>
        </p:txBody>
      </p:sp>
      <p:pic>
        <p:nvPicPr>
          <p:cNvPr id="592" name="Google Shape;592;p67" title="Model_Performance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900" y="1351750"/>
            <a:ext cx="5632043" cy="33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8"/>
          <p:cNvSpPr txBox="1"/>
          <p:nvPr>
            <p:ph type="title"/>
          </p:nvPr>
        </p:nvSpPr>
        <p:spPr>
          <a:xfrm>
            <a:off x="629175" y="642875"/>
            <a:ext cx="71235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Model Performance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98" name="Google Shape;598;p68" title="Model_Stack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899" y="1351750"/>
            <a:ext cx="5632050" cy="33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68"/>
          <p:cNvSpPr txBox="1"/>
          <p:nvPr>
            <p:ph idx="13" type="title"/>
          </p:nvPr>
        </p:nvSpPr>
        <p:spPr>
          <a:xfrm>
            <a:off x="629175" y="1417525"/>
            <a:ext cx="25158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Random Forest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Logistic Regression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GaussianNB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Decision Tree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KNN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SVC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9"/>
          <p:cNvSpPr txBox="1"/>
          <p:nvPr>
            <p:ph idx="13" type="title"/>
          </p:nvPr>
        </p:nvSpPr>
        <p:spPr>
          <a:xfrm>
            <a:off x="814300" y="1417525"/>
            <a:ext cx="26103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41300" lvl="0" marL="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Ideal models perform between 70-90%</a:t>
            </a:r>
            <a:endParaRPr sz="2000"/>
          </a:p>
          <a:p>
            <a:pPr indent="-241300" lvl="0" marL="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Large accuracy delta indicates overfitting</a:t>
            </a:r>
            <a:endParaRPr sz="2000"/>
          </a:p>
        </p:txBody>
      </p:sp>
      <p:sp>
        <p:nvSpPr>
          <p:cNvPr id="605" name="Google Shape;605;p69"/>
          <p:cNvSpPr txBox="1"/>
          <p:nvPr>
            <p:ph type="title"/>
          </p:nvPr>
        </p:nvSpPr>
        <p:spPr>
          <a:xfrm>
            <a:off x="629175" y="642875"/>
            <a:ext cx="71235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Training vs Test Accuracy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06" name="Google Shape;606;p6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625" y="1524000"/>
            <a:ext cx="5315200" cy="3170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0"/>
          <p:cNvSpPr txBox="1"/>
          <p:nvPr>
            <p:ph type="title"/>
          </p:nvPr>
        </p:nvSpPr>
        <p:spPr>
          <a:xfrm>
            <a:off x="629175" y="642875"/>
            <a:ext cx="71235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Enhanced Model</a:t>
            </a:r>
            <a:r>
              <a:rPr lang="en" sz="4000">
                <a:latin typeface="Lato"/>
                <a:ea typeface="Lato"/>
                <a:cs typeface="Lato"/>
                <a:sym typeface="Lato"/>
              </a:rPr>
              <a:t> Accuracy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" name="Google Shape;612;p70"/>
          <p:cNvSpPr txBox="1"/>
          <p:nvPr>
            <p:ph idx="13" type="title"/>
          </p:nvPr>
        </p:nvSpPr>
        <p:spPr>
          <a:xfrm>
            <a:off x="814300" y="1417525"/>
            <a:ext cx="25464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41300" lvl="0" marL="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KNN and SVC improved 5% and 13%</a:t>
            </a:r>
            <a:endParaRPr sz="2000"/>
          </a:p>
          <a:p>
            <a:pPr indent="-241300" lvl="0" marL="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Average test accuracy 80%</a:t>
            </a:r>
            <a:endParaRPr sz="2000"/>
          </a:p>
          <a:p>
            <a:pPr indent="-241300" lvl="1" marL="342900" marR="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DT highest</a:t>
            </a:r>
            <a:endParaRPr sz="2000"/>
          </a:p>
        </p:txBody>
      </p:sp>
      <p:pic>
        <p:nvPicPr>
          <p:cNvPr id="613" name="Google Shape;613;p70" title="GSCV_Performanc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703" y="1524000"/>
            <a:ext cx="5315185" cy="31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1"/>
          <p:cNvSpPr txBox="1"/>
          <p:nvPr>
            <p:ph type="title"/>
          </p:nvPr>
        </p:nvSpPr>
        <p:spPr>
          <a:xfrm>
            <a:off x="629175" y="642875"/>
            <a:ext cx="71235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Model Enhancement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" name="Google Shape;619;p71"/>
          <p:cNvSpPr txBox="1"/>
          <p:nvPr>
            <p:ph idx="13" type="title"/>
          </p:nvPr>
        </p:nvSpPr>
        <p:spPr>
          <a:xfrm>
            <a:off x="629175" y="1417525"/>
            <a:ext cx="24588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2000"/>
              <a:t>LR and DT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High R^2 and low MSE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KNN &amp; SVC improved greatly</a:t>
            </a:r>
            <a:endParaRPr sz="2000"/>
          </a:p>
        </p:txBody>
      </p:sp>
      <p:pic>
        <p:nvPicPr>
          <p:cNvPr id="620" name="Google Shape;620;p71" title="Model_Performance2_Analysi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900" y="1348225"/>
            <a:ext cx="5632050" cy="33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2"/>
          <p:cNvSpPr txBox="1"/>
          <p:nvPr>
            <p:ph type="title"/>
          </p:nvPr>
        </p:nvSpPr>
        <p:spPr>
          <a:xfrm>
            <a:off x="629175" y="642875"/>
            <a:ext cx="71235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Model Performance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" name="Google Shape;626;p72"/>
          <p:cNvSpPr txBox="1"/>
          <p:nvPr>
            <p:ph idx="13" type="title"/>
          </p:nvPr>
        </p:nvSpPr>
        <p:spPr>
          <a:xfrm>
            <a:off x="629175" y="1417525"/>
            <a:ext cx="25158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Decision Tree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Logistic Regression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Random Forest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GaussianNB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SVC</a:t>
            </a:r>
            <a:endParaRPr sz="2000"/>
          </a:p>
          <a:p>
            <a:pPr indent="-241300" lvl="0" marL="17145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KNN</a:t>
            </a:r>
            <a:endParaRPr sz="2000"/>
          </a:p>
        </p:txBody>
      </p:sp>
      <p:pic>
        <p:nvPicPr>
          <p:cNvPr id="627" name="Google Shape;627;p72" title="Model_Stack_Comparison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900" y="1351745"/>
            <a:ext cx="5632050" cy="3379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632" name="Google Shape;632;p73"/>
          <p:cNvSpPr/>
          <p:nvPr/>
        </p:nvSpPr>
        <p:spPr>
          <a:xfrm flipH="1">
            <a:off x="3087300" y="3437851"/>
            <a:ext cx="6056700" cy="8628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hape where the section titles go" id="633" name="Google Shape;633;p73"/>
          <p:cNvSpPr/>
          <p:nvPr/>
        </p:nvSpPr>
        <p:spPr>
          <a:xfrm flipH="1">
            <a:off x="3087300" y="2581601"/>
            <a:ext cx="6056700" cy="8628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hape where the section titles go" id="634" name="Google Shape;634;p73"/>
          <p:cNvSpPr/>
          <p:nvPr/>
        </p:nvSpPr>
        <p:spPr>
          <a:xfrm flipH="1">
            <a:off x="3087300" y="1718827"/>
            <a:ext cx="6056700" cy="862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hape where the section titles go" id="635" name="Google Shape;635;p73"/>
          <p:cNvSpPr/>
          <p:nvPr/>
        </p:nvSpPr>
        <p:spPr>
          <a:xfrm flipH="1">
            <a:off x="3087300" y="856152"/>
            <a:ext cx="6056700" cy="86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hape where the section titles go" id="636" name="Google Shape;636;p73"/>
          <p:cNvSpPr/>
          <p:nvPr/>
        </p:nvSpPr>
        <p:spPr>
          <a:xfrm flipH="1">
            <a:off x="3087299" y="-200"/>
            <a:ext cx="6056700" cy="8628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paces to add section titles" id="637" name="Google Shape;637;p73"/>
          <p:cNvSpPr txBox="1"/>
          <p:nvPr>
            <p:ph idx="1" type="subTitle"/>
          </p:nvPr>
        </p:nvSpPr>
        <p:spPr>
          <a:xfrm>
            <a:off x="411875" y="1352550"/>
            <a:ext cx="2408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Average</a:t>
            </a:r>
            <a:r>
              <a:rPr lang="en" sz="40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4000">
                <a:latin typeface="Lato"/>
                <a:ea typeface="Lato"/>
                <a:cs typeface="Lato"/>
                <a:sym typeface="Lato"/>
              </a:rPr>
              <a:t>Model Score: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73.684%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hape where the section titles go" id="638" name="Google Shape;638;p73"/>
          <p:cNvSpPr/>
          <p:nvPr/>
        </p:nvSpPr>
        <p:spPr>
          <a:xfrm flipH="1">
            <a:off x="3087300" y="4300650"/>
            <a:ext cx="6056700" cy="862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paces to add section titles" id="639" name="Google Shape;639;p73"/>
          <p:cNvSpPr txBox="1"/>
          <p:nvPr>
            <p:ph idx="2" type="subTitle"/>
          </p:nvPr>
        </p:nvSpPr>
        <p:spPr>
          <a:xfrm>
            <a:off x="3415482" y="218278"/>
            <a:ext cx="57141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Logistic Regression: 77.511%	</a:t>
            </a:r>
            <a:endParaRPr/>
          </a:p>
        </p:txBody>
      </p:sp>
      <p:sp>
        <p:nvSpPr>
          <p:cNvPr descr="Spaces to add section titles" id="640" name="Google Shape;640;p73"/>
          <p:cNvSpPr txBox="1"/>
          <p:nvPr>
            <p:ph idx="3" type="subTitle"/>
          </p:nvPr>
        </p:nvSpPr>
        <p:spPr>
          <a:xfrm>
            <a:off x="3415482" y="1064402"/>
            <a:ext cx="57141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Random Forest: 77.033% </a:t>
            </a:r>
            <a:endParaRPr/>
          </a:p>
        </p:txBody>
      </p:sp>
      <p:sp>
        <p:nvSpPr>
          <p:cNvPr descr="Spaces to add section titles" id="641" name="Google Shape;641;p73"/>
          <p:cNvSpPr txBox="1"/>
          <p:nvPr>
            <p:ph idx="4" type="subTitle"/>
          </p:nvPr>
        </p:nvSpPr>
        <p:spPr>
          <a:xfrm>
            <a:off x="3415482" y="1923965"/>
            <a:ext cx="57141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Decision Tree: 75.598%</a:t>
            </a:r>
            <a:endParaRPr/>
          </a:p>
        </p:txBody>
      </p:sp>
      <p:sp>
        <p:nvSpPr>
          <p:cNvPr descr="Spaces to add section titles" id="642" name="Google Shape;642;p73"/>
          <p:cNvSpPr txBox="1"/>
          <p:nvPr>
            <p:ph idx="5" type="subTitle"/>
          </p:nvPr>
        </p:nvSpPr>
        <p:spPr>
          <a:xfrm>
            <a:off x="3415482" y="2810376"/>
            <a:ext cx="57141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Support Vector Classification: 73.684%</a:t>
            </a:r>
            <a:endParaRPr/>
          </a:p>
        </p:txBody>
      </p:sp>
      <p:sp>
        <p:nvSpPr>
          <p:cNvPr descr="Spaces to add section titles" id="643" name="Google Shape;643;p73"/>
          <p:cNvSpPr txBox="1"/>
          <p:nvPr>
            <p:ph idx="6" type="subTitle"/>
          </p:nvPr>
        </p:nvSpPr>
        <p:spPr>
          <a:xfrm>
            <a:off x="3415482" y="3646163"/>
            <a:ext cx="57141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Gaussian Naive Bayes: 72.248%</a:t>
            </a:r>
            <a:endParaRPr/>
          </a:p>
        </p:txBody>
      </p:sp>
      <p:sp>
        <p:nvSpPr>
          <p:cNvPr descr="Spaces to add section titles" id="644" name="Google Shape;644;p73"/>
          <p:cNvSpPr txBox="1"/>
          <p:nvPr>
            <p:ph idx="7" type="subTitle"/>
          </p:nvPr>
        </p:nvSpPr>
        <p:spPr>
          <a:xfrm>
            <a:off x="3415482" y="4530963"/>
            <a:ext cx="57141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K Nearest Neighbors: 66.028%</a:t>
            </a: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4"/>
          <p:cNvSpPr txBox="1"/>
          <p:nvPr>
            <p:ph type="title"/>
          </p:nvPr>
        </p:nvSpPr>
        <p:spPr>
          <a:xfrm>
            <a:off x="758250" y="700775"/>
            <a:ext cx="7349400" cy="1126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>
                <a:latin typeface="Lato"/>
                <a:ea typeface="Lato"/>
                <a:cs typeface="Lato"/>
                <a:sym typeface="Lato"/>
              </a:rPr>
              <a:t>Submission results were similar to model results</a:t>
            </a:r>
            <a:endParaRPr sz="4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0" name="Google Shape;650;p74"/>
          <p:cNvSpPr txBox="1"/>
          <p:nvPr/>
        </p:nvSpPr>
        <p:spPr>
          <a:xfrm>
            <a:off x="1012225" y="1972500"/>
            <a:ext cx="3262200" cy="1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Stack Scoring</a:t>
            </a:r>
            <a:endParaRPr sz="2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B6D7A8"/>
                </a:solidFill>
                <a:latin typeface="Lato"/>
                <a:ea typeface="Lato"/>
                <a:cs typeface="Lato"/>
                <a:sym typeface="Lato"/>
              </a:rPr>
              <a:t>Decision Tree</a:t>
            </a:r>
            <a:endParaRPr sz="2000">
              <a:solidFill>
                <a:srgbClr val="B6D7A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B6D7A8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endParaRPr sz="2000">
              <a:solidFill>
                <a:srgbClr val="B6D7A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B6D7A8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endParaRPr sz="2000">
              <a:solidFill>
                <a:srgbClr val="B6D7A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F9CB9C"/>
                </a:solidFill>
                <a:latin typeface="Lato"/>
                <a:ea typeface="Lato"/>
                <a:cs typeface="Lato"/>
                <a:sym typeface="Lato"/>
              </a:rPr>
              <a:t>GaussianNB</a:t>
            </a:r>
            <a:endParaRPr sz="2000">
              <a:solidFill>
                <a:srgbClr val="F9CB9C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F9CB9C"/>
                </a:solidFill>
                <a:latin typeface="Lato"/>
                <a:ea typeface="Lato"/>
                <a:cs typeface="Lato"/>
                <a:sym typeface="Lato"/>
              </a:rPr>
              <a:t>SVC</a:t>
            </a:r>
            <a:endParaRPr sz="2000">
              <a:solidFill>
                <a:srgbClr val="F9CB9C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9999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EA9999"/>
                </a:solidFill>
                <a:latin typeface="Lato"/>
                <a:ea typeface="Lato"/>
                <a:cs typeface="Lato"/>
                <a:sym typeface="Lato"/>
              </a:rPr>
              <a:t>K-Nearest Neighbors</a:t>
            </a:r>
            <a:endParaRPr sz="1000">
              <a:solidFill>
                <a:srgbClr val="EA999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" name="Google Shape;651;p74"/>
          <p:cNvSpPr txBox="1"/>
          <p:nvPr/>
        </p:nvSpPr>
        <p:spPr>
          <a:xfrm>
            <a:off x="4746025" y="1972500"/>
            <a:ext cx="3262200" cy="1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Competition Scoring</a:t>
            </a:r>
            <a:endParaRPr sz="2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B6D7A8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endParaRPr sz="2000">
              <a:solidFill>
                <a:srgbClr val="B6D7A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B6D7A8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endParaRPr sz="2000">
              <a:solidFill>
                <a:srgbClr val="B6D7A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B6D7A8"/>
                </a:solidFill>
                <a:latin typeface="Lato"/>
                <a:ea typeface="Lato"/>
                <a:cs typeface="Lato"/>
                <a:sym typeface="Lato"/>
              </a:rPr>
              <a:t>Decision Tree</a:t>
            </a:r>
            <a:endParaRPr sz="2000">
              <a:solidFill>
                <a:srgbClr val="B6D7A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F9CB9C"/>
                </a:solidFill>
                <a:latin typeface="Lato"/>
                <a:ea typeface="Lato"/>
                <a:cs typeface="Lato"/>
                <a:sym typeface="Lato"/>
              </a:rPr>
              <a:t>SVC</a:t>
            </a:r>
            <a:endParaRPr sz="2000">
              <a:solidFill>
                <a:srgbClr val="F9CB9C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F9CB9C"/>
                </a:solidFill>
                <a:latin typeface="Lato"/>
                <a:ea typeface="Lato"/>
                <a:cs typeface="Lato"/>
                <a:sym typeface="Lato"/>
              </a:rPr>
              <a:t>GaussianNB</a:t>
            </a:r>
            <a:endParaRPr sz="2000">
              <a:solidFill>
                <a:srgbClr val="F9CB9C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9999"/>
              </a:buClr>
              <a:buSzPts val="2000"/>
              <a:buFont typeface="Lato"/>
              <a:buAutoNum type="arabicPeriod"/>
            </a:pPr>
            <a:r>
              <a:rPr lang="en" sz="2000">
                <a:solidFill>
                  <a:srgbClr val="EA9999"/>
                </a:solidFill>
                <a:latin typeface="Lato"/>
                <a:ea typeface="Lato"/>
                <a:cs typeface="Lato"/>
                <a:sym typeface="Lato"/>
              </a:rPr>
              <a:t>K-Nearest Neighbors</a:t>
            </a:r>
            <a:endParaRPr sz="1000">
              <a:solidFill>
                <a:srgbClr val="EA999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5"/>
          <p:cNvSpPr txBox="1"/>
          <p:nvPr>
            <p:ph type="title"/>
          </p:nvPr>
        </p:nvSpPr>
        <p:spPr>
          <a:xfrm>
            <a:off x="931675" y="6022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Can I survive?</a:t>
            </a:r>
            <a:endParaRPr sz="4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7" name="Google Shape;657;p75"/>
          <p:cNvSpPr txBox="1"/>
          <p:nvPr>
            <p:ph idx="2" type="title"/>
          </p:nvPr>
        </p:nvSpPr>
        <p:spPr>
          <a:xfrm>
            <a:off x="561600" y="1407250"/>
            <a:ext cx="48903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 sz="2000">
                <a:solidFill>
                  <a:schemeClr val="accent6"/>
                </a:solidFill>
              </a:rPr>
              <a:t>Ran a couple simulations</a:t>
            </a:r>
            <a:endParaRPr sz="2000">
              <a:solidFill>
                <a:schemeClr val="accent6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-"/>
            </a:pPr>
            <a:r>
              <a:rPr lang="en" sz="2000">
                <a:solidFill>
                  <a:schemeClr val="accent6"/>
                </a:solidFill>
              </a:rPr>
              <a:t>83% Survivability as 1st class passenger</a:t>
            </a:r>
            <a:endParaRPr sz="2000">
              <a:solidFill>
                <a:schemeClr val="accent6"/>
              </a:solidFill>
            </a:endParaRPr>
          </a:p>
          <a:p>
            <a:pPr indent="-355600" lvl="1" marL="6858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-"/>
            </a:pPr>
            <a:r>
              <a:rPr lang="en" sz="2000">
                <a:solidFill>
                  <a:schemeClr val="accent6"/>
                </a:solidFill>
              </a:rPr>
              <a:t>Otherwise 25%</a:t>
            </a:r>
            <a:endParaRPr sz="2000">
              <a:solidFill>
                <a:schemeClr val="accent6"/>
              </a:solidFill>
            </a:endParaRPr>
          </a:p>
          <a:p>
            <a:pPr indent="-355600" lvl="1" marL="6858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-"/>
            </a:pPr>
            <a:r>
              <a:rPr lang="en" sz="2000">
                <a:solidFill>
                  <a:schemeClr val="accent6"/>
                </a:solidFill>
              </a:rPr>
              <a:t>Ticket cost increased survival rate</a:t>
            </a:r>
            <a:endParaRPr sz="2000">
              <a:solidFill>
                <a:schemeClr val="accent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-"/>
            </a:pPr>
            <a:r>
              <a:rPr lang="en" sz="2000">
                <a:solidFill>
                  <a:schemeClr val="accent6"/>
                </a:solidFill>
              </a:rPr>
              <a:t>More likely to survive as a couple than a family</a:t>
            </a:r>
            <a:endParaRPr sz="2000">
              <a:solidFill>
                <a:schemeClr val="accent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-"/>
            </a:pPr>
            <a:r>
              <a:rPr lang="en" sz="2000">
                <a:solidFill>
                  <a:schemeClr val="accent6"/>
                </a:solidFill>
              </a:rPr>
              <a:t>Embark location did not affect my survivability odds</a:t>
            </a:r>
            <a:endParaRPr sz="2000">
              <a:solidFill>
                <a:schemeClr val="accent6"/>
              </a:solidFill>
            </a:endParaRPr>
          </a:p>
        </p:txBody>
      </p:sp>
      <p:pic>
        <p:nvPicPr>
          <p:cNvPr id="658" name="Google Shape;658;p75" title="survive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575" y="285750"/>
            <a:ext cx="3927500" cy="37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6"/>
          <p:cNvSpPr/>
          <p:nvPr/>
        </p:nvSpPr>
        <p:spPr>
          <a:xfrm flipH="1" rot="10800000">
            <a:off x="-10550" y="-6150"/>
            <a:ext cx="4868700" cy="3121500"/>
          </a:xfrm>
          <a:prstGeom prst="snip1Rect">
            <a:avLst>
              <a:gd fmla="val 1783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4" name="Google Shape;664;p76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Thank you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